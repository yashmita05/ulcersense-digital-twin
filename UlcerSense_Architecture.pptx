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stages. Sense: OpenCV turns a thermogram into regional temperatures. Predict: temperatures and EHR metrics form a feature vector, XGBoost scores the risk and SHAP explains it. Serve: FastAPI exposes /telemetry/stream-next, /analyze-image and /predict; the dashboard renders the digital twin.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35D0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UlcerSense: from thermogram to digital twin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FB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 SENSE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462272" y="1508760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FB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 PREDICT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375904" y="1508760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FB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 SERVE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3273552" cy="868680"/>
          </a:xfrm>
          <a:prstGeom prst="roundRect">
            <a:avLst>
              <a:gd name="adj" fmla="val 12632"/>
            </a:avLst>
          </a:prstGeom>
          <a:solidFill>
            <a:srgbClr val="152238"/>
          </a:solidFill>
          <a:ln w="12700">
            <a:solidFill>
              <a:srgbClr val="2B3F60"/>
            </a:solidFill>
          </a:ln>
        </p:spPr>
        <p:txBody>
          <a:bodyPr wrap="square" lIns="76200" tIns="152400" rIns="152400" bIns="762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Plantar thermogram</a:t>
            </a:r>
            <a:endParaRPr lang="en-US" sz="18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9FB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image scan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048256" y="2788920"/>
            <a:ext cx="274320" cy="310896"/>
          </a:xfrm>
          <a:prstGeom prst="downArrow">
            <a:avLst/>
          </a:prstGeom>
          <a:solidFill>
            <a:srgbClr val="35D0BA"/>
          </a:solidFill>
          <a:ln w="12700">
            <a:solidFill>
              <a:srgbClr val="35D0B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154680"/>
            <a:ext cx="3273552" cy="1920240"/>
          </a:xfrm>
          <a:prstGeom prst="roundRect">
            <a:avLst>
              <a:gd name="adj" fmla="val 5714"/>
            </a:avLst>
          </a:prstGeom>
          <a:solidFill>
            <a:srgbClr val="152238"/>
          </a:solidFill>
          <a:ln w="12700">
            <a:solidFill>
              <a:srgbClr val="2B3F60"/>
            </a:solidFill>
          </a:ln>
        </p:spPr>
        <p:txBody>
          <a:bodyPr wrap="square" lIns="76200" tIns="152400" rIns="152400" bIns="762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pipeline</a:t>
            </a:r>
            <a:endParaRPr lang="en-US" sz="18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9FB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thresholding, pixel-to-temperature mapping (26–36 °C), segmentation into Toes, Midfoot, Heel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462272" y="1874520"/>
            <a:ext cx="3273552" cy="1051560"/>
          </a:xfrm>
          <a:prstGeom prst="roundRect">
            <a:avLst>
              <a:gd name="adj" fmla="val 10435"/>
            </a:avLst>
          </a:prstGeom>
          <a:solidFill>
            <a:srgbClr val="152238"/>
          </a:solidFill>
          <a:ln w="12700">
            <a:solidFill>
              <a:srgbClr val="2B3F60"/>
            </a:solidFill>
          </a:ln>
        </p:spPr>
        <p:txBody>
          <a:bodyPr wrap="square" lIns="76200" tIns="152400" rIns="152400" bIns="762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telemetry</a:t>
            </a:r>
            <a:endParaRPr lang="en-US" sz="18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9FB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Toes, Midfoot, Heel temps + Age, HbA1c, DM duration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961888" y="2971800"/>
            <a:ext cx="274320" cy="310896"/>
          </a:xfrm>
          <a:prstGeom prst="downArrow">
            <a:avLst/>
          </a:prstGeom>
          <a:solidFill>
            <a:srgbClr val="35D0BA"/>
          </a:solidFill>
          <a:ln w="12700">
            <a:solidFill>
              <a:srgbClr val="35D0B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62272" y="3337560"/>
            <a:ext cx="3273552" cy="868680"/>
          </a:xfrm>
          <a:prstGeom prst="roundRect">
            <a:avLst>
              <a:gd name="adj" fmla="val 12632"/>
            </a:avLst>
          </a:prstGeom>
          <a:solidFill>
            <a:srgbClr val="35D0BA"/>
          </a:solidFill>
          <a:ln w="12700">
            <a:solidFill>
              <a:srgbClr val="35D0BA"/>
            </a:solidFill>
          </a:ln>
        </p:spPr>
        <p:txBody>
          <a:bodyPr wrap="square" lIns="76200" tIns="152400" rIns="152400" bIns="762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0D1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classifier</a:t>
            </a:r>
            <a:endParaRPr lang="en-US" sz="18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0D1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Ulceration probability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961888" y="4251960"/>
            <a:ext cx="274320" cy="310896"/>
          </a:xfrm>
          <a:prstGeom prst="downArrow">
            <a:avLst/>
          </a:prstGeom>
          <a:solidFill>
            <a:srgbClr val="35D0BA"/>
          </a:solidFill>
          <a:ln w="12700">
            <a:solidFill>
              <a:srgbClr val="35D0B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62272" y="4617720"/>
            <a:ext cx="3273552" cy="868680"/>
          </a:xfrm>
          <a:prstGeom prst="roundRect">
            <a:avLst>
              <a:gd name="adj" fmla="val 12632"/>
            </a:avLst>
          </a:prstGeom>
          <a:solidFill>
            <a:srgbClr val="152238"/>
          </a:solidFill>
          <a:ln w="12700">
            <a:solidFill>
              <a:srgbClr val="2B3F60"/>
            </a:solidFill>
          </a:ln>
        </p:spPr>
        <p:txBody>
          <a:bodyPr wrap="square" lIns="76200" tIns="152400" rIns="152400" bIns="762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TreeExplainer</a:t>
            </a:r>
            <a:endParaRPr lang="en-US" sz="18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9FB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risk drivers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75904" y="1874520"/>
            <a:ext cx="3273552" cy="1463040"/>
          </a:xfrm>
          <a:prstGeom prst="roundRect">
            <a:avLst>
              <a:gd name="adj" fmla="val 7500"/>
            </a:avLst>
          </a:prstGeom>
          <a:solidFill>
            <a:srgbClr val="152238"/>
          </a:solidFill>
          <a:ln w="12700">
            <a:solidFill>
              <a:srgbClr val="2B3F60"/>
            </a:solidFill>
          </a:ln>
        </p:spPr>
        <p:txBody>
          <a:bodyPr wrap="square" lIns="76200" tIns="152400" rIns="152400" bIns="762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8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35D0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/telemetry/stream-next</a:t>
            </a:r>
            <a:endParaRPr lang="en-US" sz="18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35D0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/analyze-image</a:t>
            </a:r>
            <a:endParaRPr lang="en-US" sz="18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35D0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/predict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875520" y="3383280"/>
            <a:ext cx="274320" cy="310896"/>
          </a:xfrm>
          <a:prstGeom prst="downArrow">
            <a:avLst/>
          </a:prstGeom>
          <a:solidFill>
            <a:srgbClr val="35D0BA"/>
          </a:solidFill>
          <a:ln w="12700">
            <a:solidFill>
              <a:srgbClr val="35D0B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75904" y="3749040"/>
            <a:ext cx="3273552" cy="1737360"/>
          </a:xfrm>
          <a:prstGeom prst="roundRect">
            <a:avLst>
              <a:gd name="adj" fmla="val 6316"/>
            </a:avLst>
          </a:prstGeom>
          <a:solidFill>
            <a:srgbClr val="35D0BA"/>
          </a:solidFill>
          <a:ln w="12700">
            <a:solidFill>
              <a:srgbClr val="35D0BA"/>
            </a:solidFill>
          </a:ln>
        </p:spPr>
        <p:txBody>
          <a:bodyPr wrap="square" lIns="76200" tIns="152400" rIns="152400" bIns="762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0D1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dashboard</a:t>
            </a:r>
            <a:endParaRPr lang="en-US" sz="18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0D1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Heatmap, real-time risk chart, risk driver diagnostics, audit log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840480" y="3429000"/>
            <a:ext cx="457200" cy="365760"/>
          </a:xfrm>
          <a:prstGeom prst="rightArrow">
            <a:avLst/>
          </a:prstGeom>
          <a:solidFill>
            <a:srgbClr val="35D0BA"/>
          </a:solidFill>
          <a:ln w="12700">
            <a:solidFill>
              <a:srgbClr val="35D0B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54112" y="3429000"/>
            <a:ext cx="457200" cy="365760"/>
          </a:xfrm>
          <a:prstGeom prst="rightArrow">
            <a:avLst/>
          </a:prstGeom>
          <a:solidFill>
            <a:srgbClr val="35D0BA"/>
          </a:solidFill>
          <a:ln w="12700">
            <a:solidFill>
              <a:srgbClr val="35D0B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· OpenCV · NumPy · Pandas · XGBoost · SHAP · FastAPI · Uvicorn · Tailwind CSS · Chart.js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UlcerSense Architecture</dc:title>
  <dc:subject>PptxGenJS Presentation</dc:subject>
  <dc:creator>PptxGenJS</dc:creator>
  <cp:lastModifiedBy>PptxGenJS</cp:lastModifiedBy>
  <cp:revision>1</cp:revision>
  <dcterms:created xsi:type="dcterms:W3CDTF">2026-10-17T07:52:30Z</dcterms:created>
  <dcterms:modified xsi:type="dcterms:W3CDTF">2026-10-17T07:52:30Z</dcterms:modified>
</cp:coreProperties>
</file>